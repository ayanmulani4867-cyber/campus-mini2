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6035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  <a:latin typeface="Segoe UI"/>
              </a:defRPr>
            </a:pPr>
            <a:r>
              <a:t>🏛️ SHARAD INSTITUTE OF TECHNOLOGY COLLEGE OF ENGINEERING</a:t>
            </a:r>
          </a:p>
          <a:p>
            <a:pPr>
              <a:spcAft>
                <a:spcPts val="2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Department of Computer Science &amp; Engineering • Academic Year 2025–26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Campus Connect ERP</a:t>
            </a:r>
          </a:p>
          <a:p>
            <a:pPr>
              <a:spcAft>
                <a:spcPts val="1800"/>
              </a:spcAft>
              <a:defRPr sz="2000" b="1">
                <a:solidFill>
                  <a:srgbClr val="06B6D4"/>
                </a:solidFill>
                <a:latin typeface="Segoe UI"/>
              </a:defRPr>
            </a:pPr>
            <a:r>
              <a:t>Integrated Campus Management System</a:t>
            </a:r>
          </a:p>
          <a:p>
            <a:pPr>
              <a:spcAft>
                <a:spcPts val="2400"/>
              </a:spcAft>
              <a:defRPr sz="1400">
                <a:solidFill>
                  <a:srgbClr val="CBD5E1"/>
                </a:solidFill>
                <a:latin typeface="Segoe UI"/>
              </a:defRPr>
            </a:pPr>
            <a:r>
              <a:t>A centralized, role-based college portal for real-time attendance roll-calls, 4-tier examination marks entry, automated grade calculation, and coursework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594360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spcAft>
                <a:spcPts val="400"/>
              </a:spcAft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PROJECT OVERVIEW &amp; TECHNOLOGY STACK</a:t>
            </a:r>
          </a:p>
          <a:p>
            <a:pPr>
              <a:defRPr sz="1100">
                <a:solidFill>
                  <a:srgbClr val="F1F5F9"/>
                </a:solidFill>
                <a:latin typeface="Segoe UI"/>
              </a:defRPr>
            </a:pPr>
            <a:r>
              <a:t>• Core Technologies: Python 3.11 • Flask Web Framework • PostgreSQL • SQLAlchemy 2.0 ORM</a:t>
            </a:r>
            <a:br/>
            <a:r>
              <a:t>• Developer Attribution: Ayan Mulani (Project Lead) &amp; Project Team | SITCOE Yadrav</a:t>
            </a:r>
            <a:br/>
            <a:r>
              <a:t>• GitHub Repository: https://github.com/ayanmulani4867-cyber/Campus-mini2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1005840"/>
            <a:ext cx="4434840" cy="498348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051560"/>
            <a:ext cx="4251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AUTHENTIC SYSTEM DASHBOARD INTERFACE</a:t>
            </a:r>
          </a:p>
        </p:txBody>
      </p:sp>
      <p:pic>
        <p:nvPicPr>
          <p:cNvPr id="8" name="Picture 7" descr="02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463040"/>
            <a:ext cx="4160520" cy="2600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8040" y="4434840"/>
            <a:ext cx="4160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Verified System Architecture:</a:t>
            </a:r>
          </a:p>
          <a:p>
            <a:pPr>
              <a:defRPr sz="1100">
                <a:solidFill>
                  <a:srgbClr val="06B6D4"/>
                </a:solidFill>
                <a:latin typeface="Segoe UI"/>
              </a:defRPr>
            </a:pPr>
            <a:r>
              <a:t>✔ Multi-Tier Role Governance: Admin, Faculty, and Student</a:t>
            </a:r>
            <a:br/>
            <a:r>
              <a:t>✔ Live Cloud Database: Relational PostgreSQL Schema</a:t>
            </a:r>
            <a:br/>
            <a:r>
              <a:t>✔ Demonstration Dataset: Test environment sample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217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</a:defRPr>
            </a:pPr>
            <a: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PROJECT MOTIVATION &amp; SCOPE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Problem Statement &amp;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Demonstration Test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2120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/>
          <a:lstStyle/>
          <a:p>
            <a:pPr algn="ctr">
              <a:spcAft>
                <a:spcPts val="20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🚨 OPERATIONAL CHALLENGES (PROBLEM)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Fragmented Academic Records</a:t>
            </a:r>
          </a:p>
          <a:p>
            <a:pPr>
              <a:spcAft>
                <a:spcPts val="1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  Student profiles, course lists, and marks reside in disconnected physical registers and spreadsheets, causing data silos and duplication.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Manual Attendance &amp; Grade Tabulation</a:t>
            </a:r>
          </a:p>
          <a:p>
            <a:pPr>
              <a:spcAft>
                <a:spcPts val="1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  Paper-based roll-calls cause administrative delays, calculation errors, and slow identification of students falling below attendance thresholds.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Absence of Role-Based Workspace Isolation</a:t>
            </a:r>
          </a:p>
          <a:p>
            <a:pPr>
              <a:spcAft>
                <a:spcPts val="1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  Unsecured access without strict Role-Based Access Control (RBAC) creates data privacy risks between administrators, faculty, and students.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08760"/>
            <a:ext cx="521208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56032"/>
          <a:lstStyle/>
          <a:p>
            <a:pPr algn="ctr">
              <a:spcAft>
                <a:spcPts val="20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🎯 CAMPUS CONNECT ERP (SOLUTION)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Centralized Relational Database</a:t>
            </a:r>
          </a:p>
          <a:p>
            <a:pPr>
              <a:spcAft>
                <a:spcPts val="1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  Unified PostgreSQL repository managed via SQLAlchemy 2.0 ORM, integrating students, faculty, departments, and course offerings.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Automated 4-Tier Evaluation Engine</a:t>
            </a:r>
          </a:p>
          <a:p>
            <a:pPr>
              <a:spcAft>
                <a:spcPts val="1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  Structured scoring for CA1 (20), CA2 (20), Mid-Sem (30), and End-Sem (70) with automated SGPA/CGPA grade card generation.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Strict Role-Based Access Control (RBAC)</a:t>
            </a:r>
          </a:p>
          <a:p>
            <a:pPr>
              <a:spcAft>
                <a:spcPts val="18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  Server-side session authentication with token isolation guaranteeing dedicated, secure workspaces for Admins, Faculty, and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TECHNICAL ARCHITECTURE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System Architecture &amp; 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Demonstration Test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329184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29184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CLIENT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Web Browser Interface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HTML5 Responsive Layouts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Vanilla CSS3 Design System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Vanilla JavaScript (ES6 Fetch)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Multi-Tab Session Token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423160"/>
            <a:ext cx="42062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3984" y="1508760"/>
            <a:ext cx="329184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4" y="1508760"/>
            <a:ext cx="329184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5544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APPLICATION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1031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Python Flask REST Backend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Python 3.11 Microframework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Modular Blueprints (Auth, Users, Results)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Role-Based Access Decorators (RBAC)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Werkzeug PBKDF2 Password 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2423160"/>
            <a:ext cx="42062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1508760"/>
            <a:ext cx="329184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508760"/>
            <a:ext cx="32918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55448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1031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PostgreSQL Cloud Database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PostgreSQL Relational DB (Render)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SQLAlchemy 2.0 Declarative ORM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Alembic Schema Version Migrations</a:t>
            </a:r>
          </a:p>
          <a:p>
            <a:pPr>
              <a:spcAft>
                <a:spcPts val="4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Foreign-Key Relational Integrity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51960"/>
            <a:ext cx="10728655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CLOUD HOSTING &amp; DEPLOYMENT PIPELINE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Render Cloud Web Service: </a:t>
            </a:r>
            <a:r>
              <a:rPr b="0">
                <a:solidFill>
                  <a:srgbClr val="334155"/>
                </a:solidFill>
              </a:rPr>
              <a:t>Automated continuous deployment configured and synchronized with the repository's main branch.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Gunicorn WSGI Production Server: </a:t>
            </a:r>
            <a:r>
              <a:rPr b="0">
                <a:solidFill>
                  <a:srgbClr val="334155"/>
                </a:solidFill>
              </a:rPr>
              <a:t>Multi-worker Python WSGI server handling concurrent HTTP requests with ProxyFix middleware.</a:t>
            </a:r>
          </a:p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Zero-Mock Relational Integrity: </a:t>
            </a:r>
            <a:r>
              <a:rPr b="0">
                <a:solidFill>
                  <a:srgbClr val="334155"/>
                </a:solidFill>
              </a:rPr>
              <a:t>Every application route executes authentic SQL queries against PostgreSQL tables; no hardcoded dummy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ADMINISTRATION MODULE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Administrative Dashboard &amp; User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Demonstration Test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766560" cy="4759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user_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6620256" cy="4137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19572"/>
            <a:ext cx="6583680" cy="475488"/>
          </a:xfrm>
          <a:prstGeom prst="rect">
            <a:avLst/>
          </a:prstGeom>
          <a:noFill/>
        </p:spPr>
        <p:txBody>
          <a:bodyPr wrap="square" tIns="27432" bIns="18288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Figure 1: Campus User Directory — Centralized account governance &amp; profile linking</a:t>
            </a:r>
          </a:p>
          <a:p>
            <a:pPr>
              <a:defRPr sz="950">
                <a:solidFill>
                  <a:srgbClr val="0891B2"/>
                </a:solidFill>
                <a:latin typeface="Segoe UI"/>
              </a:defRPr>
            </a:pPr>
            <a:r>
              <a:t>Demonstration Dataset: Role filtering (Admin, Faculty, Student) • Department search controls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08760"/>
            <a:ext cx="368777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6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VERIFIED CAPABILITIES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Unified Member Ledger</a:t>
            </a:r>
          </a:p>
          <a:p>
            <a:pPr>
              <a:spcAft>
                <a:spcPts val="1600"/>
              </a:spcAft>
              <a:defRPr sz="1250">
                <a:solidFill>
                  <a:srgbClr val="334155"/>
                </a:solidFill>
                <a:latin typeface="Segoe UI"/>
              </a:defRPr>
            </a:pPr>
            <a:r>
              <a:t>  Directly couples login credentials with student and faculty academic records to prevent orphan data.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Multi-Field Search &amp; Filters</a:t>
            </a:r>
          </a:p>
          <a:p>
            <a:pPr>
              <a:spcAft>
                <a:spcPts val="1600"/>
              </a:spcAft>
              <a:defRPr sz="1250">
                <a:solidFill>
                  <a:srgbClr val="334155"/>
                </a:solidFill>
                <a:latin typeface="Segoe UI"/>
              </a:defRPr>
            </a:pPr>
            <a:r>
              <a:t>  Search registered members by name, roll, PRN, or employee ID; filter by department and semester.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Role-Based Governance</a:t>
            </a:r>
          </a:p>
          <a:p>
            <a:pPr>
              <a:spcAft>
                <a:spcPts val="1600"/>
              </a:spcAft>
              <a:defRPr sz="1250">
                <a:solidFill>
                  <a:srgbClr val="334155"/>
                </a:solidFill>
                <a:latin typeface="Segoe UI"/>
              </a:defRPr>
            </a:pPr>
            <a:r>
              <a:t>  Administrators manage account activation, inspect profiles, and trigger instant student grade cards.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* Screen captured from running ERP using demonstration test dataset.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ACADEMIC LIFECYCLE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Academic Management: Attendance &amp; Examination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Demonstration Test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12064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studen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4974336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690872"/>
            <a:ext cx="4937760" cy="475488"/>
          </a:xfrm>
          <a:prstGeom prst="rect">
            <a:avLst/>
          </a:prstGeom>
          <a:noFill/>
        </p:spPr>
        <p:txBody>
          <a:bodyPr wrap="square" tIns="27432" bIns="18288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Figure 2: Published Student Grade Card with SGPA &amp; CGPA Calculation</a:t>
            </a:r>
          </a:p>
          <a:p>
            <a:pPr>
              <a:defRPr sz="950">
                <a:solidFill>
                  <a:srgbClr val="0891B2"/>
                </a:solidFill>
                <a:latin typeface="Segoe UI"/>
              </a:defRPr>
            </a:pPr>
            <a:r>
              <a:t>Sample Record: CA1 (18) + CA2 (19) + Mid (26) + End (62) = 125/140 Marks • Grade A • SGPA 8.93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08760"/>
            <a:ext cx="5120640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_faculty_results_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81912"/>
            <a:ext cx="4974336" cy="3108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690872"/>
            <a:ext cx="4937760" cy="475488"/>
          </a:xfrm>
          <a:prstGeom prst="rect">
            <a:avLst/>
          </a:prstGeom>
          <a:noFill/>
        </p:spPr>
        <p:txBody>
          <a:bodyPr wrap="square" tIns="27432" bIns="18288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Figure 3: Faculty Continuous Assessment Sheet (CA1, CA2, Mid-Sem, End-Sem)</a:t>
            </a:r>
          </a:p>
          <a:p>
            <a:pPr>
              <a:defRPr sz="950">
                <a:solidFill>
                  <a:srgbClr val="0891B2"/>
                </a:solidFill>
                <a:latin typeface="Segoe UI"/>
              </a:defRPr>
            </a:pPr>
            <a:r>
              <a:t>Workflow: CS601 Software Eng (Div A) • Draft Saving ➔ Review Submission ➔ 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40680"/>
            <a:ext cx="1072865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spcAft>
                <a:spcPts val="200"/>
              </a:spcAft>
              <a:defRPr sz="1100" b="1">
                <a:solidFill>
                  <a:srgbClr val="0284C7"/>
                </a:solidFill>
                <a:latin typeface="Segoe UI"/>
              </a:defRPr>
            </a:pPr>
            <a:r>
              <a:t>MATHEMATICAL CALCULATION &amp; VERIFIED ASSESSMENT RULES: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• 4-Tier Assessment Math: CA1 (20) + CA2 (20) + Mid-Sem (30) + End-Sem (70) = 140 Total Maximum Marks. Obtained: 125/140 = 89.29% (Grade A, Passed First Class).</a:t>
            </a:r>
            <a:br/>
            <a:r>
              <a:t>• Attendance Roll-Call Ledger: Course-wise session tracking (CS601, ML, Software Testing) with automated 75% university eligibility threshold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100" b="1">
                <a:solidFill>
                  <a:srgbClr val="0891B2"/>
                </a:solidFill>
                <a:latin typeface="Segoe UI"/>
              </a:defRPr>
            </a:pPr>
            <a:r>
              <a:t>COLLABORATION &amp; SERVICES</a:t>
            </a:r>
          </a:p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Coursework Lifecycle &amp; Campus Announcements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Slide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Campus Connect ERP • Sharad Institute of Technology College of Engineering (SITCOE) • Demonstration Test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6766560" cy="47594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assignments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81912"/>
            <a:ext cx="6620256" cy="4137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719572"/>
            <a:ext cx="6583680" cy="475488"/>
          </a:xfrm>
          <a:prstGeom prst="rect">
            <a:avLst/>
          </a:prstGeom>
          <a:noFill/>
        </p:spPr>
        <p:txBody>
          <a:bodyPr wrap="square" tIns="27432" bIns="18288" lIns="18288" rIns="18288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Figure 4: Coursework Assignment Management with submission locking &amp; evaluation queue</a:t>
            </a:r>
          </a:p>
          <a:p>
            <a:pPr>
              <a:defRPr sz="950">
                <a:solidFill>
                  <a:srgbClr val="0891B2"/>
                </a:solidFill>
                <a:latin typeface="Segoe UI"/>
              </a:defRPr>
            </a:pPr>
            <a:r>
              <a:t>Active Coursework: CS601 'Module 8 Lab Assignment on Concurrency' (10 pts) • 1 Delivered Submission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508760"/>
            <a:ext cx="3687775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600"/>
              </a:spcAft>
              <a:defRPr sz="1300" b="1">
                <a:solidFill>
                  <a:srgbClr val="0284C7"/>
                </a:solidFill>
                <a:latin typeface="Segoe UI"/>
              </a:defRPr>
            </a:pPr>
            <a:r>
              <a:t>COLLABORATION WORKFLOWS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Assignment Publishing</a:t>
            </a:r>
          </a:p>
          <a:p>
            <a:pPr>
              <a:spcAft>
                <a:spcPts val="1600"/>
              </a:spcAft>
              <a:defRPr sz="1250">
                <a:solidFill>
                  <a:srgbClr val="334155"/>
                </a:solidFill>
                <a:latin typeface="Segoe UI"/>
              </a:defRPr>
            </a:pPr>
            <a:r>
              <a:t>  Faculty create course assignments with point allocations, division targets, and strict submission deadlines.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Tamper-Proof Locking</a:t>
            </a:r>
          </a:p>
          <a:p>
            <a:pPr>
              <a:spcAft>
                <a:spcPts val="1600"/>
              </a:spcAft>
              <a:defRPr sz="1250">
                <a:solidFill>
                  <a:srgbClr val="334155"/>
                </a:solidFill>
                <a:latin typeface="Segoe UI"/>
              </a:defRPr>
            </a:pPr>
            <a:r>
              <a:t>  Students upload solutions via their portal; submissions are timestamped and locked against post-deadline editing.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✔ Zero-Mock Circulars</a:t>
            </a:r>
          </a:p>
          <a:p>
            <a:pPr>
              <a:spcAft>
                <a:spcPts val="1600"/>
              </a:spcAft>
              <a:defRPr sz="1250">
                <a:solidFill>
                  <a:srgbClr val="334155"/>
                </a:solidFill>
                <a:latin typeface="Segoe UI"/>
              </a:defRPr>
            </a:pPr>
            <a:r>
              <a:t>  Official notices and campus events (e.g. Spring Cultural Fest 'Vibrance 2026') served directly from PostgreSQL.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* All modules query genuine database tables in the demonstration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228600"/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PROJECT SYNTHESIS &amp; VIVA SUMMARY</a:t>
            </a:r>
          </a:p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Outcomes, Roadmap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50292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Slide 7 of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Campus Connect ERP • Sharad Institute of Technology College of Engineering (SITCOE) • Demonstration Test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212080" cy="3794760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1600"/>
              </a:spcAft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🏁 THREE CORE PROJECT OUTCOMES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✔ Unified Academic Operations</a:t>
            </a:r>
          </a:p>
          <a:p>
            <a:pPr>
              <a:spcAft>
                <a:spcPts val="14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  Successfully integrated roll-call attendance, 4-tier continuous examination assessment, and official grade card publication into a single platform.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✔ Strict Role-Based Security</a:t>
            </a:r>
          </a:p>
          <a:p>
            <a:pPr>
              <a:spcAft>
                <a:spcPts val="14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  Enforced Role-Based Access Control (RBAC) with session token isolation, providing secure, partitioned workspaces for Administrators, Faculty, and Students.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✔ Production Relational Architecture</a:t>
            </a:r>
          </a:p>
          <a:p>
            <a:pPr>
              <a:spcAft>
                <a:spcPts val="14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  Implemented a robust PostgreSQL schema via SQLAlchemy 2.0 ORM with complete referential integrity and zero reliance on mock/demo data fallbacks.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08760"/>
            <a:ext cx="5212080" cy="379476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1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🚀 TWO PLANNED FUTURE ENHANCEMENTS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★ Automated Parent SMS Alerts (Planned)</a:t>
            </a:r>
          </a:p>
          <a:p>
            <a:pPr>
              <a:spcAft>
                <a:spcPts val="20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  Integrate an SMS gateway (Twilio / Fast2SMS) to automatically alert parents and students when attendance drops below the 75% university eligibility threshold.</a:t>
            </a:r>
          </a:p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★ Accreditation &amp; Analytics Reporting (Planned)</a:t>
            </a:r>
          </a:p>
          <a:p>
            <a:pPr>
              <a:spcAft>
                <a:spcPts val="2000"/>
              </a:spcAft>
              <a:defRPr sz="1250">
                <a:solidFill>
                  <a:srgbClr val="94A3B8"/>
                </a:solidFill>
                <a:latin typeface="Segoe UI"/>
              </a:defRPr>
            </a:pPr>
            <a:r>
              <a:t>  Build graphical department-wise analytics and automated PDF/Excel report exports for NAAC and NIRF institutional accreditation reviews.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40680"/>
            <a:ext cx="10728655" cy="868680"/>
          </a:xfrm>
          <a:prstGeom prst="rect">
            <a:avLst/>
          </a:prstGeom>
          <a:solidFill>
            <a:srgbClr val="0B132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spcAft>
                <a:spcPts val="300"/>
              </a:spcAft>
              <a:defRPr sz="1500" b="1">
                <a:solidFill>
                  <a:srgbClr val="06B6D4"/>
                </a:solidFill>
                <a:latin typeface="Segoe UI"/>
              </a:defRPr>
            </a:pPr>
            <a:r>
              <a:t>CAMPUS CONNECT ERP • SITCOE YADRAV • THANK YOU!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GitHub Repository: https://github.com/ayanmulani4867-cyber/Campus-mini2  •  Open for Viva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