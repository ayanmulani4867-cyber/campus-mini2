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🏛️ SHARAD INSTITUTE OF TECHNOLOGY COLLEGE OF ENGINEERING</a:t>
            </a:r>
          </a:p>
          <a:p>
            <a:pPr>
              <a:spcAft>
                <a:spcPts val="2400"/>
              </a:spcAft>
              <a:defRPr sz="1100">
                <a:solidFill>
                  <a:srgbClr val="F1F5F9"/>
                </a:solidFill>
                <a:latin typeface="Segoe UI"/>
              </a:defRPr>
            </a:pPr>
            <a:r>
              <a:t>Department of Computer Science &amp; Engineering • Academic Year 2025–26</a:t>
            </a:r>
          </a:p>
          <a:p>
            <a:pPr>
              <a:spcAft>
                <a:spcPts val="600"/>
              </a:spcAft>
              <a:defRPr sz="3800" b="1">
                <a:solidFill>
                  <a:srgbClr val="FFFFFF"/>
                </a:solidFill>
                <a:latin typeface="Segoe UI"/>
              </a:defRPr>
            </a:pPr>
            <a:r>
              <a:t>Campus Connect ERP</a:t>
            </a:r>
          </a:p>
          <a:p>
            <a:pPr>
              <a:spcAft>
                <a:spcPts val="1800"/>
              </a:spcAft>
              <a:defRPr sz="1700" b="1">
                <a:solidFill>
                  <a:srgbClr val="2563EB"/>
                </a:solidFill>
                <a:latin typeface="Segoe UI"/>
              </a:defRPr>
            </a:pPr>
            <a:r>
              <a:t>Integrated College Management &amp; Academic Ledger System</a:t>
            </a:r>
          </a:p>
          <a:p>
            <a:pPr>
              <a:spcAft>
                <a:spcPts val="22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A production-grade, centralized enterprise portal orchestrating student attendance tracking, 4-tier continuous examination marks entry, automated grade card publication, coursework lifecycle, and role-governed campus administration.</a:t>
            </a:r>
          </a:p>
          <a:p>
            <a:pPr>
              <a:spcAft>
                <a:spcPts val="600"/>
              </a:spcAft>
              <a:defRPr sz="950" b="1">
                <a:solidFill>
                  <a:srgbClr val="94A3B8"/>
                </a:solidFill>
                <a:latin typeface="Segoe UI"/>
              </a:defRPr>
            </a:pPr>
            <a:r>
              <a:t>VERIFIED TECHNOLOGY STACK:</a:t>
            </a:r>
          </a:p>
          <a:p>
            <a:pPr>
              <a:spcAft>
                <a:spcPts val="20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• Backend: Python 3.11 • Flask Web Framework • SQLAlchemy 2.0 ORM</a:t>
            </a:r>
            <a:br/>
            <a:r>
              <a:t>• Database: PostgreSQL Cloud DB • Connection Pooling • Alembic</a:t>
            </a:r>
            <a:br/>
            <a:r>
              <a:t>• Frontend: Responsive HTML5 • Vanilla CSS3 • Vanilla JavaScript ES6</a:t>
            </a:r>
            <a:br/>
            <a:r>
              <a:t>• Deployment: Render Cloud Web Service • Gunicorn • ProxyFix Security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Project Repository: https://github.com/ayanmulani4867-cyber/Campus-mini2</a:t>
            </a:r>
            <a:br/>
            <a:r>
              <a:t>Developer Attribution: Ayan Mulani &amp; Engineering Team | SITCOE Yadrav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914400"/>
            <a:ext cx="4389120" cy="512064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96012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REAL RUNNING SYSTEM INTERFACE</a:t>
            </a:r>
          </a:p>
        </p:txBody>
      </p:sp>
      <p:pic>
        <p:nvPicPr>
          <p:cNvPr id="7" name="Picture 6" descr="01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280160"/>
            <a:ext cx="4114800" cy="2571750"/>
          </a:xfrm>
          <a:prstGeom prst="rect">
            <a:avLst/>
          </a:prstGeom>
        </p:spPr>
      </p:pic>
      <p:pic>
        <p:nvPicPr>
          <p:cNvPr id="8" name="Picture 7" descr="02_admi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611880"/>
            <a:ext cx="4114800" cy="2571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0" y="6309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PROJECT FOUNDATION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Problem Statement &amp; Strategic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Slide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Campus Connect ERP • Sharad Institute of Technology College of Engineering, Yadrav (SITCOE) • Live PostgreSQL Production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21208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DC2626"/>
                </a:solidFill>
                <a:latin typeface="Segoe UI"/>
              </a:defRPr>
            </a:pPr>
            <a:r>
              <a:t>🚨 ACADEMIC PAIN POINTS &amp; CHALLENGES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Fragmented Academic Information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Colleges traditionally store student records, enrollment lists, and course schedules across disparate offline registers and unlinked spreadsheets, leading to data synchronization bottlenecks.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Inefficient Attendance &amp; Result Tracking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Manual attendance logs make real-time roll-call auditing cumbersome. Continuous assessment (CA1, CA2, Mid-Sem, End-Sem) lacks automated total calculation, resulting in delayed grade finalization.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Manual Notice &amp; Assignment Circulation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Circulating physical circulars and collecting assignment submissions via email causes lost submissions, unverified deadlines, and absence of an auditable evaluation history.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Lack of Role-Governed Workspace Isolation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Absence of granular Role-Based Access Control (RBAC) creates security hazards where administrative privileges, faculty assessment sheets, and student result cards are not strictly compartmentalized.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17320"/>
            <a:ext cx="521208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🎯 CORE OBJECTIVES OF CAMPUS CONNECT ERP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✔ Centralized Academic Master Database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Deploy a unified relational PostgreSQL schema managed via SQLAlchemy 2.0 ORM, integrating Students, Faculty, Courses, Departments, and Enrollments with zero demo/mock fallback.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✔ Continuous 4-Tier Assessment &amp; Grade Generation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Provide faculty with dedicated grading sheets for CA1 (20), CA2 (20), Mid-Sem (30), and End-Sem (70), featuring approval workflows and instant SGPA/CGPA grade card generation.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✔ Live Attendance Ledger &amp; Eligibility Monitoring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Digitize classroom roll-call with live attendance score computation, subject-wise breakdown, and automatic flagging of students falling below the mandatory 75% board threshold.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✔ Multi-Tier Role-Based Access Control (RBAC)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  Enforce strict server-side session authentication with token isolation across Administrators, Faculty, and Students to guarantee data integrity and individual record privacy.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TECHNICAL SPECIFICATION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System Architecture &amp;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Slide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Campus Connect ERP • Sharad Institute of Technology College of Engineering, Yadrav (SITCOE) • Live PostgreSQL Production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2514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2514600" cy="5486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01 • CLIENT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11680"/>
            <a:ext cx="229514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Frontend Architecture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HTML5 Semantic UI: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Accessible, structured document layout tailored for academic dashboards.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Vanilla CSS3: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Design system with customized slate tokens, CSS variables, zero Tailwind overhead.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Vanilla JavaScript (ES6):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Lightweight, modular fetch client handling REST APIs and DOM rendering.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Multi-Tab Isolation: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Hybrid sessionStorage and localStorage token management preventing logout collisions.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5576" y="1417320"/>
            <a:ext cx="2514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65576" y="1417320"/>
            <a:ext cx="251460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5576" y="14630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02 • APPLICATION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2011680"/>
            <a:ext cx="229514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Flask REST Backend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Python 3.11 + Flask: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Lightweight micro-framework utilizing the Application Factory design pattern.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Modular Blueprints: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Separation of concerns: auth, users, attendance, results, assignments, notices, events.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RBAC &amp; Security Decorators: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@login_required &amp; @role_required enforcing strict route authorization.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Password Security: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Werkzeug PBKDF2 hashing with salted credentials across all accounts.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2514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417320"/>
            <a:ext cx="251460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4630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03 • DATA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011680"/>
            <a:ext cx="229514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PostgreSQL &amp; SQLAlchemy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PostgreSQL Database: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Relational database hosted on Render Cloud with high reliability.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SQLAlchemy 2.0 ORM: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Declarative schema models with cascade deletion and relational integrity.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Alembic Migrations: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Strict schema version control ensuring seamless zero-downtime upgrades.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Zero Mock Fallback: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All views directly bound to genuine SQL records with honest empty states.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33688" y="1417320"/>
            <a:ext cx="2514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3688" y="1417320"/>
            <a:ext cx="251460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33688" y="14630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04 • DEPLOYMENT &amp; HOSTING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011680"/>
            <a:ext cx="229514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DevOps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Render Web Service: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Automated continuous delivery synchronized with GitHub main branch.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Gunicorn WSGI Server: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Production multi-worker WSGI HTTP server handling concurrent requests.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ProxyFix Middleware: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Reverse proxy header correction for secure HTTPS redirection and cookies.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Environment Hygiene:</a:t>
            </a:r>
          </a:p>
          <a:p>
            <a:pPr>
              <a:spcAft>
                <a:spcPts val="400"/>
              </a:spcAft>
              <a:defRPr sz="850">
                <a:solidFill>
                  <a:srgbClr val="64748B"/>
                </a:solidFill>
                <a:latin typeface="Segoe UI"/>
              </a:defRPr>
            </a:pPr>
            <a:r>
              <a:t>  Strict credential isolation through environment variables (.env).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212080"/>
            <a:ext cx="10728655" cy="10972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57800"/>
            <a:ext cx="105457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Segoe UI"/>
              </a:defRPr>
            </a:pPr>
            <a:r>
              <a:t>DATA FLOW &amp; REQUEST EXECUTION PIPELINE</a:t>
            </a:r>
          </a:p>
          <a:p>
            <a:pPr>
              <a:defRPr sz="850">
                <a:solidFill>
                  <a:srgbClr val="E2E8F0"/>
                </a:solidFill>
                <a:latin typeface="Consolas"/>
              </a:defRPr>
            </a:pPr>
            <a:r>
              <a:t>[Student / Faculty / Admin Client]  ──(HTTPS / REST JSON)──►  [Gunicorn WSGI + ProxyFix]  ──►  [Flask Application Factory &amp; Route Blueprints]</a:t>
            </a:r>
            <a:br/>
            <a:r>
              <a:t>                                                                                                              │ (RBAC Decorators &amp; Token Auth)</a:t>
            </a:r>
            <a:br/>
            <a:r>
              <a:t>                                                                                                              ▼</a:t>
            </a:r>
            <a:br/>
            <a:r>
              <a:t>[PostgreSQL Cloud Database (Render)]  ◄──(SQLAlchemy 2.0 ORM Engine &amp; Session Pool)───  [Models: User, Attendance, Result, Assignment]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ADMINISTRATION MODULE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Administrative Control &amp; Campus User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Slide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Campus Connect ERP • Sharad Institute of Technology College of Engineering, Yadrav (SITCOE) • Live PostgreSQL Production System</a:t>
            </a:r>
          </a:p>
        </p:txBody>
      </p:sp>
      <p:pic>
        <p:nvPicPr>
          <p:cNvPr id="6" name="Picture 5" descr="02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486400" cy="3429000"/>
          </a:xfrm>
          <a:prstGeom prst="rect">
            <a:avLst/>
          </a:prstGeom>
        </p:spPr>
      </p:pic>
      <p:pic>
        <p:nvPicPr>
          <p:cNvPr id="7" name="Picture 6" descr="03_user_dir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8620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417320"/>
            <a:ext cx="5010912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🏛️ CENTRALIZED CAMPUS GOVERNANCE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Institutional Overview &amp; Live KPI Metrics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The Admin Dashboard aggregates real-time metrics across the institution: Total Enrolled Students (2), Teaching Faculty (3), Active Courses (19), Engineering Departments (6), and 100% System Health.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Centralized Campus User Directory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Consolidated member ledger linking authentication accounts directly with Student and Faculty profiles. Eliminates detached data records and guarantees profile referential integrity.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Multi-Field Full-Text Search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Instant searching across student and faculty records by Full Name, Roll Number, PRN (e.g. 24101099, 24101005), Employee Code (FAC-TEST-01), or College Email address.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Granular Multi-Criteria Filtering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Filter registered campus members dynamically by Role (Admin, Faculty, Student), Academic Department (Computer Science &amp; Engineering), Semester, Class Division, and Status.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Authorized Member Actions &amp; Lifecycle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Administrators can inspect detailed member profiles, view official generated grade cards, manage academic enrollment status, and maintain system security.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ACADEMIC LIFECYCLE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Academic Management: Attendance &amp; Examination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Slide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Campus Connect ERP • Sharad Institute of Technology College of Engineering, Yadrav (SITCOE) • Live PostgreSQL Production System</a:t>
            </a:r>
          </a:p>
        </p:txBody>
      </p:sp>
      <p:pic>
        <p:nvPicPr>
          <p:cNvPr id="6" name="Picture 5" descr="04_student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200400"/>
          </a:xfrm>
          <a:prstGeom prst="rect">
            <a:avLst/>
          </a:prstGeom>
        </p:spPr>
      </p:pic>
      <p:pic>
        <p:nvPicPr>
          <p:cNvPr id="7" name="Picture 6" descr="06_faculty_results_manag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86200"/>
            <a:ext cx="5120640" cy="3200400"/>
          </a:xfrm>
          <a:prstGeom prst="rect">
            <a:avLst/>
          </a:prstGeom>
        </p:spPr>
      </p:pic>
      <p:pic>
        <p:nvPicPr>
          <p:cNvPr id="8" name="Picture 7" descr="05_student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417320"/>
            <a:ext cx="5376672" cy="33604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80760" y="3977639"/>
            <a:ext cx="53766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ctr">
              <a:spcAft>
                <a:spcPts val="600"/>
              </a:spcAft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📊 VERIFIED ACADEMIC EVALUATION WORKFLOW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  <a:latin typeface="Segoe UI"/>
              </a:defRPr>
            </a:pPr>
            <a:r>
              <a:t>• Real-Time Attendance Ledger: Live roll-call tracking per course (CS601 Software Eng, 23CS3601 ML, 23CS3602 Software Testing) with Present/Late/Absent metrics and automatic 75% board threshold compliance.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  <a:latin typeface="Segoe UI"/>
              </a:defRPr>
            </a:pPr>
            <a:r>
              <a:t>• 4-Tier Assessment System: Faculty marks entry sheet covering CA1 (20 pts), CA2 (20 pts), Mid-Sem (30 pts), and End-Sem (70 pts) with draft saving and administrative approval workflows.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  <a:latin typeface="Segoe UI"/>
              </a:defRPr>
            </a:pPr>
            <a:r>
              <a:t>• Official Student Grade Card: Automated total computation (125/100 weighted scale), letter grading (Grade A), SGPA &amp; CGPA calculation (8.93 First Class), and printable grade report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COLLABORATION &amp; SUBMISSIONS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Campus Collaboration: Notices, Events &amp; Coursework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Slide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Campus Connect ERP • Sharad Institute of Technology College of Engineering, Yadrav (SITCOE) • Live PostgreSQL Production System</a:t>
            </a:r>
          </a:p>
        </p:txBody>
      </p:sp>
      <p:pic>
        <p:nvPicPr>
          <p:cNvPr id="6" name="Picture 5" descr="08_assignments_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03520" cy="3314700"/>
          </a:xfrm>
          <a:prstGeom prst="rect">
            <a:avLst/>
          </a:prstGeom>
        </p:spPr>
      </p:pic>
      <p:pic>
        <p:nvPicPr>
          <p:cNvPr id="7" name="Picture 6" descr="07_notices_bullet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86200"/>
            <a:ext cx="5303520" cy="33147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63640" y="1417320"/>
            <a:ext cx="5193792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2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📢 CAMPUS COMMUNICATION &amp; COURSEWORK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Coursework &amp; Assignment Management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Faculty can create course-specific assignments (e.g. CS601 'Module 8 Lab Assignment on Concurrency') with point allocations (10 pts), assigned divisions, and strict deadlines.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Student Submission &amp; Tamper-Proof Locking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Students submit solutions directly through their portal. Once submitted, submissions are timestamped and locked against further modification to ensure academic integrity.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Faculty Evaluation &amp; Grading Queue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Real-time submission ledger displays delivered coursework (1 Completed, 1 Awaiting Review), providing instructors with direct review and grading interfaces.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Zero Mock Data Notice Bulletin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The notice board operates directly against the PostgreSQL database with zero placeholder fallbacks. Handles official announcements across Academic, Examination, and Cultural categories.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Campus Events Coordination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Dynamic event tracking for inter-collegiate and departmental fests (e.g. 'Spring Cultural Fest Vibrance 2026' at Open Air Amphitheatre).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PROJECT WRAP-UP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Project Conclusion, Impact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Slide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Campus Connect ERP • Sharad Institute of Technology College of Engineering, Yadrav (SITCOE) • Live PostgreSQL Production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21208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/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🏁 VERIFIED CAPABILITIES &amp; ACHIEVEMENTS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Fully Operational Enterprise System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Successfully delivered a complete, working ERP system for Sharad Institute of Technology College of Engineering (SITCOE), verified on live PostgreSQL cloud storage.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Comprehensive Academic Lifecycle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Unified attendance roll-call tracking, 4-tier continuous assessment (CA1, CA2, Mid-Sem, End-Sem), and official published grade cards within a single platform.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Zero Demo/Mock Fallbacks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Strict data integrity across all modules—every view directly binds to genuine database tables with authentic empty states.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Multi-Role Security &amp; Isolation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Robust Role-Based Access Control (RBAC) with token session isolation, preventing multi-tab session conflicts between Admin, Faculty, and Student users.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17320"/>
            <a:ext cx="521208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🚀 FUTURE ROADMAP &amp; PLANNED ENHANCEMENTS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★ Automated SMS Shortage Alerts (Planned)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Integrate SMS gateways (Twilio / Fast2SMS) to automatically alert parents and students when overall attendance falls below the mandatory 75% threshold.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★ Web Push Notifications (Planned)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Implement Service Worker push notifications for urgent circulars, impending assignment deadlines, and newly published examination grade cards.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★ Advanced Academic Analytics &amp; NIRF Reporting (Planned)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Build graphical department-wise analytics, batch pass-rate distributions, and automated CSV/PDF report generators for NIRF and NAAC accreditation.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★ Native Mobile Companion Application (Planned)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Develop a Flutter/React Native mobile client utilizing the existing secure REST API endpoints for convenient student access on Android and iOS devices.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532120"/>
            <a:ext cx="10698480" cy="82296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PROJECT REPOSITORY &amp; CODEBASE: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GitHub Repository: https://github.com/ayanmulani4867-cyber/Campus-mini2  •  Branch: main  •  SITCOE Yadrav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